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주요 AI 활용 업무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응답수</c:v>
                </c:pt>
              </c:strCache>
            </c:strRef>
          </c:tx>
          <c:spPr>
            <a:solidFill>
              <a:srgbClr val="2E5D7B"/>
            </a:solidFill>
          </c:spPr>
          <c:cat>
            <c:strRef>
              <c:f>Sheet1!$A$2:$A$7</c:f>
              <c:strCache>
                <c:ptCount val="6"/>
                <c:pt idx="0">
                  <c:v>문서작성</c:v>
                </c:pt>
                <c:pt idx="1">
                  <c:v>자료요약</c:v>
                </c:pt>
                <c:pt idx="2">
                  <c:v>데이터분석</c:v>
                </c:pt>
                <c:pt idx="3">
                  <c:v>아이디어·기획</c:v>
                </c:pt>
                <c:pt idx="4">
                  <c:v>번역</c:v>
                </c:pt>
                <c:pt idx="5">
                  <c:v>이미지·콘텐츠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주당 업무시간 단축 체감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응답수</c:v>
                </c:pt>
              </c:strCache>
            </c:strRef>
          </c:tx>
          <c:spPr>
            <a:solidFill>
              <a:srgbClr val="589691"/>
            </a:solidFill>
          </c:spPr>
          <c:cat>
            <c:strRef>
              <c:f>Sheet1!$A$2:$A$6</c:f>
              <c:strCache>
                <c:ptCount val="5"/>
                <c:pt idx="0">
                  <c:v>0분</c:v>
                </c:pt>
                <c:pt idx="1">
                  <c:v>30분 미만</c:v>
                </c:pt>
                <c:pt idx="2">
                  <c:v>30~60분</c:v>
                </c:pt>
                <c:pt idx="3">
                  <c:v>1~2시간</c:v>
                </c:pt>
                <c:pt idx="4">
                  <c:v>2시간 이상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6</c:v>
                </c:pt>
                <c:pt idx="2">
                  <c:v>10</c:v>
                </c:pt>
                <c:pt idx="3">
                  <c:v>16</c:v>
                </c:pt>
                <c:pt idx="4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9691"/>
                </a:solidFill>
                <a:latin typeface="Malgun Gothic"/>
              </a:rPr>
              <a:t>PROJECT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7324D"/>
                </a:solidFill>
                <a:latin typeface="Malgun Gothic"/>
              </a:rPr>
              <a:t>AI 기반 경영지원</a:t>
            </a:r>
            <a:br/>
            <a:r>
              <a:t>업무보고 &amp; PPT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9052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66470"/>
                </a:solidFill>
                <a:latin typeface="Malgun Gothic"/>
              </a:rPr>
              <a:t>설문 데이터를 AI 관점으로 분석하고,</a:t>
            </a:r>
            <a:br/>
            <a:r>
              <a:t>경영진 의사결정에 필요한 핵심 내용만 보고자료로 구조화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886200"/>
            <a:ext cx="4892040" cy="502920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014215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ChatGPT  ×  Excel  ×  PowerPoint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8704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66470"/>
                </a:solidFill>
                <a:latin typeface="Malgun Gothic"/>
              </a:rPr>
              <a:t>PORTFOLIO SAMPLE · 가상 설문 데이터 기반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66470"/>
                </a:solidFill>
                <a:latin typeface="Malgun Gothic"/>
              </a:rPr>
              <a:t>PORTFOLIO · 생성형 AI 기반 업무 생산성 혁신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66470"/>
                </a:solidFill>
                <a:latin typeface="Malgun Gothi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9691"/>
                </a:solidFill>
                <a:latin typeface="Malgun Gothic"/>
              </a:rPr>
              <a:t>01 ·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Malgun Gothic"/>
              </a:rPr>
              <a:t>왜 이 프로젝트가 필요한가?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594360" cy="45720"/>
          </a:xfrm>
          <a:prstGeom prst="rect">
            <a:avLst/>
          </a:prstGeom>
          <a:solidFill>
            <a:srgbClr val="5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3383280"/>
          </a:xfrm>
          <a:prstGeom prst="rect">
            <a:avLst/>
          </a:prstGeom>
          <a:solidFill>
            <a:srgbClr val="5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830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algun Gothic"/>
              </a:rPr>
              <a:t>업무의 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21992"/>
            <a:ext cx="3063240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6470"/>
                </a:solidFill>
                <a:latin typeface="Malgun Gothic"/>
              </a:rPr>
              <a:t>• 데이터는 많지만 보고자료 작성에 시간이 소요됨</a:t>
            </a:r>
            <a:br/>
            <a:r>
              <a:t>• 실무 데이터와 경영진이 원하는 정보 사이에 간극 발생</a:t>
            </a:r>
            <a:br/>
            <a:r>
              <a:t>• 매번 표·차트·보고 문구를 반복 작성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4008" cy="3383280"/>
          </a:xfrm>
          <a:prstGeom prst="rect">
            <a:avLst/>
          </a:prstGeom>
          <a:solidFill>
            <a:srgbClr val="2E5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830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algun Gothic"/>
              </a:rPr>
              <a:t>AI 활용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21992"/>
            <a:ext cx="3063240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6470"/>
                </a:solidFill>
                <a:latin typeface="Malgun Gothic"/>
              </a:rPr>
              <a:t>• Excel 데이터 집계 및 핵심 지표 정리</a:t>
            </a:r>
            <a:br/>
            <a:r>
              <a:t>• ChatGPT 관점으로 인사이트와 개선안 구조화</a:t>
            </a:r>
            <a:br/>
            <a:r>
              <a:t>• PowerPoint에 의사결정 중심으로 재구성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429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00200"/>
            <a:ext cx="64008" cy="3383280"/>
          </a:xfrm>
          <a:prstGeom prst="rect">
            <a:avLst/>
          </a:prstGeom>
          <a:solidFill>
            <a:srgbClr val="D7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7830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algun Gothic"/>
              </a:rPr>
              <a:t>기대 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221992"/>
            <a:ext cx="3063240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6470"/>
                </a:solidFill>
                <a:latin typeface="Malgun Gothic"/>
              </a:rPr>
              <a:t>• 보고자료 작성시간 단축</a:t>
            </a:r>
            <a:br/>
            <a:r>
              <a:t>• 핵심 이슈를 빠르게 파악</a:t>
            </a:r>
            <a:br/>
            <a:r>
              <a:t>• 데이터 → 분석 → 실행계획의 일관된 보고체계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7324D"/>
                </a:solidFill>
                <a:latin typeface="Malgun Gothic"/>
              </a:rPr>
              <a:t>핵심 목표  |  “자료를 정리하는 보고”에서 “의사결정을 돕는 보고”로 전환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66470"/>
                </a:solidFill>
                <a:latin typeface="Malgun Gothic"/>
              </a:rPr>
              <a:t>PORTFOLIO · 생성형 AI 기반 업무 생산성 혁신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66470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9691"/>
                </a:solidFill>
                <a:latin typeface="Malgun Gothic"/>
              </a:rPr>
              <a:t>02 ·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Malgun Gothic"/>
              </a:rPr>
              <a:t>AI를 활용한 업무보고 제작 프로세스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594360" cy="45720"/>
          </a:xfrm>
          <a:prstGeom prst="rect">
            <a:avLst/>
          </a:prstGeom>
          <a:solidFill>
            <a:srgbClr val="5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1828800"/>
            <a:ext cx="685800" cy="685800"/>
          </a:xfrm>
          <a:prstGeom prst="ellipse">
            <a:avLst/>
          </a:prstGeom>
          <a:solidFill>
            <a:srgbClr val="5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4168" y="203911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7324D"/>
                </a:solidFill>
                <a:latin typeface="Malgun Gothic"/>
              </a:rPr>
              <a:t>원본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66470"/>
                </a:solidFill>
                <a:latin typeface="Malgun Gothic"/>
              </a:rPr>
              <a:t>설문·업무 데이터를</a:t>
            </a:r>
            <a:br/>
            <a:r>
              <a:t>Excel에 구조화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0116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5D7B"/>
                </a:solidFill>
                <a:latin typeface="Malgun Gothic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520439" y="1828800"/>
            <a:ext cx="685800" cy="685800"/>
          </a:xfrm>
          <a:prstGeom prst="ellipse">
            <a:avLst/>
          </a:prstGeom>
          <a:solidFill>
            <a:srgbClr val="5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203911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7432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7324D"/>
                </a:solidFill>
                <a:latin typeface="Malgun Gothic"/>
              </a:rPr>
              <a:t>자동 집계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461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66470"/>
                </a:solidFill>
                <a:latin typeface="Malgun Gothic"/>
              </a:rPr>
              <a:t>사용률·만족도·</a:t>
            </a:r>
            <a:br/>
            <a:r>
              <a:t>시간 절감 등 산출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0116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5D7B"/>
                </a:solidFill>
                <a:latin typeface="Malgun Gothic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806440" y="1828800"/>
            <a:ext cx="685800" cy="685800"/>
          </a:xfrm>
          <a:prstGeom prst="ellipse">
            <a:avLst/>
          </a:prstGeom>
          <a:solidFill>
            <a:srgbClr val="5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203911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7432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7324D"/>
                </a:solidFill>
                <a:latin typeface="Malgun Gothic"/>
              </a:rPr>
              <a:t>AI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2461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66470"/>
                </a:solidFill>
                <a:latin typeface="Malgun Gothic"/>
              </a:rPr>
              <a:t>핵심 패턴·문제점·</a:t>
            </a:r>
            <a:br/>
            <a:r>
              <a:t>시사점 도출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0116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5D7B"/>
                </a:solidFill>
                <a:latin typeface="Malgun Gothic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092440" y="1828800"/>
            <a:ext cx="685800" cy="685800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203911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7432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7324D"/>
                </a:solidFill>
                <a:latin typeface="Malgun Gothic"/>
              </a:rPr>
              <a:t>보고 구조화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2461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66470"/>
                </a:solidFill>
                <a:latin typeface="Malgun Gothic"/>
              </a:rPr>
              <a:t>경영진 관점의</a:t>
            </a:r>
            <a:br/>
            <a:r>
              <a:t>핵심 메시지 선정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0116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5D7B"/>
                </a:solidFill>
                <a:latin typeface="Malgun Gothic"/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10378440" y="1828800"/>
            <a:ext cx="685800" cy="685800"/>
          </a:xfrm>
          <a:prstGeom prst="ellipse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88168" y="203911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274320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7324D"/>
                </a:solidFill>
                <a:latin typeface="Malgun Gothic"/>
              </a:rPr>
              <a:t>PPT 제작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324612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66470"/>
                </a:solidFill>
                <a:latin typeface="Malgun Gothic"/>
              </a:rPr>
              <a:t>차트·결론·실행계획을</a:t>
            </a:r>
            <a:br/>
            <a:r>
              <a:t>한눈에 시각화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9834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7324D"/>
                </a:solidFill>
                <a:latin typeface="Malgun Gothic"/>
              </a:rPr>
              <a:t>실무 포인트  |  AI가 보고서를 ‘대신 작성’하는 것이 아니라,</a:t>
            </a:r>
            <a:br/>
            <a:r>
              <a:t>실무자가 검토한 데이터를 빠르게 요약·구조화하는 보조 도구로 활용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66470"/>
                </a:solidFill>
                <a:latin typeface="Malgun Gothic"/>
              </a:rPr>
              <a:t>PORTFOLIO · 생성형 AI 기반 업무 생산성 혁신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66470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9691"/>
                </a:solidFill>
                <a:latin typeface="Malgun Gothic"/>
              </a:rPr>
              <a:t>03 ·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Malgun Gothic"/>
              </a:rPr>
              <a:t>생성형 AI 업무 활용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594360" cy="45720"/>
          </a:xfrm>
          <a:prstGeom prst="rect">
            <a:avLst/>
          </a:prstGeom>
          <a:solidFill>
            <a:srgbClr val="5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66470"/>
                </a:solidFill>
                <a:latin typeface="Malgun Gothic"/>
              </a:rPr>
              <a:t>AI 사용률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7324D"/>
                </a:solidFill>
                <a:latin typeface="Malgun Gothic"/>
              </a:rPr>
              <a:t>78%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99232"/>
            <a:ext cx="2788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66470"/>
                </a:solidFill>
                <a:latin typeface="Malgun Gothic"/>
              </a:rPr>
              <a:t>50명 중 39명 사용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874519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66470"/>
                </a:solidFill>
                <a:latin typeface="Malgun Gothic"/>
              </a:rPr>
              <a:t>평균 만족도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28600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7324D"/>
                </a:solidFill>
                <a:latin typeface="Malgun Gothic"/>
              </a:rPr>
              <a:t>3.4 /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999232"/>
            <a:ext cx="2788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66470"/>
                </a:solidFill>
                <a:latin typeface="Malgun Gothic"/>
              </a:rPr>
              <a:t>전체 응답 기준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874519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66470"/>
                </a:solidFill>
                <a:latin typeface="Malgun Gothic"/>
              </a:rPr>
              <a:t>확대 의향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28600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7324D"/>
                </a:solidFill>
                <a:latin typeface="Malgun Gothic"/>
              </a:rPr>
              <a:t>72%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999232"/>
            <a:ext cx="2788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66470"/>
                </a:solidFill>
                <a:latin typeface="Malgun Gothic"/>
              </a:rPr>
              <a:t>4~5점 응답 비율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7324D"/>
                </a:solidFill>
                <a:latin typeface="Malgun Gothic"/>
              </a:rPr>
              <a:t>핵심 해석  |  응답자의 다수가 생성형 AI를 이미 업무에 활용하고 있으며,</a:t>
            </a:r>
            <a:br/>
            <a:r>
              <a:t>향후 활용 확대 의향도 높아 조직 차원의 표준 활용법과 교육체계 마련이 필요합니다.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03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66470"/>
                </a:solidFill>
                <a:latin typeface="Malgun Gothic"/>
              </a:rPr>
              <a:t>※ 본 자료는 포트폴리오 시연을 위해 생성한 50명 가상 응답 데이터입니다.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66470"/>
                </a:solidFill>
                <a:latin typeface="Malgun Gothic"/>
              </a:rPr>
              <a:t>PORTFOLIO · 생성형 AI 기반 업무 생산성 혁신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66470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9691"/>
                </a:solidFill>
                <a:latin typeface="Malgun Gothic"/>
              </a:rPr>
              <a:t>04 · DATA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Malgun Gothic"/>
              </a:rPr>
              <a:t>어떤 업무에서 효과를 체감했는가?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594360" cy="45720"/>
          </a:xfrm>
          <a:prstGeom prst="rect">
            <a:avLst/>
          </a:prstGeom>
          <a:solidFill>
            <a:srgbClr val="5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600200"/>
          <a:ext cx="53035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63640" y="1600200"/>
          <a:ext cx="525780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66470"/>
                </a:solidFill>
                <a:latin typeface="Malgun Gothic"/>
              </a:rPr>
              <a:t>PORTFOLIO · 생성형 AI 기반 업무 생산성 혁신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66470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9691"/>
                </a:solidFill>
                <a:latin typeface="Malgun Gothic"/>
              </a:rPr>
              <a:t>05 · ISSUE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Malgun Gothic"/>
              </a:rPr>
              <a:t>AI 활용을 막는 주요 장애요인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594360" cy="45720"/>
          </a:xfrm>
          <a:prstGeom prst="rect">
            <a:avLst/>
          </a:prstGeom>
          <a:solidFill>
            <a:srgbClr val="5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Malgun Gothic"/>
              </a:rPr>
              <a:t>정확성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709928"/>
            <a:ext cx="7040880" cy="292608"/>
          </a:xfrm>
          <a:prstGeom prst="roundRect">
            <a:avLst/>
          </a:prstGeom>
          <a:solidFill>
            <a:srgbClr val="E2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709928"/>
            <a:ext cx="7040880" cy="292608"/>
          </a:xfrm>
          <a:prstGeom prst="roundRect">
            <a:avLst/>
          </a:prstGeom>
          <a:solidFill>
            <a:srgbClr val="2E5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04120" y="1691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66470"/>
                </a:solidFill>
                <a:latin typeface="Malgun Gothic"/>
              </a:rPr>
              <a:t>14명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Malgun Gothic"/>
              </a:rPr>
              <a:t>보안·개인정보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670048"/>
            <a:ext cx="7040880" cy="292608"/>
          </a:xfrm>
          <a:prstGeom prst="roundRect">
            <a:avLst/>
          </a:prstGeom>
          <a:solidFill>
            <a:srgbClr val="E2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2670048"/>
            <a:ext cx="6035040" cy="292608"/>
          </a:xfrm>
          <a:prstGeom prst="roundRect">
            <a:avLst/>
          </a:prstGeom>
          <a:solidFill>
            <a:srgbClr val="2E5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20" y="2651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66470"/>
                </a:solidFill>
                <a:latin typeface="Malgun Gothic"/>
              </a:rPr>
              <a:t>12명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Malgun Gothic"/>
              </a:rPr>
              <a:t>사용법 부족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3630168"/>
            <a:ext cx="7040880" cy="292608"/>
          </a:xfrm>
          <a:prstGeom prst="roundRect">
            <a:avLst/>
          </a:prstGeom>
          <a:solidFill>
            <a:srgbClr val="E2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34640" y="3630168"/>
            <a:ext cx="4526280" cy="292608"/>
          </a:xfrm>
          <a:prstGeom prst="roundRect">
            <a:avLst/>
          </a:prstGeom>
          <a:solidFill>
            <a:srgbClr val="5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20" y="3611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66470"/>
                </a:solidFill>
                <a:latin typeface="Malgun Gothic"/>
              </a:rPr>
              <a:t>9명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7324D"/>
                </a:solidFill>
                <a:latin typeface="Malgun Gothic"/>
              </a:rPr>
              <a:t>프롬프트 작성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4590288"/>
            <a:ext cx="7040880" cy="292608"/>
          </a:xfrm>
          <a:prstGeom prst="roundRect">
            <a:avLst/>
          </a:prstGeom>
          <a:solidFill>
            <a:srgbClr val="E2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34640" y="4590288"/>
            <a:ext cx="4526280" cy="292608"/>
          </a:xfrm>
          <a:prstGeom prst="roundRect">
            <a:avLst/>
          </a:prstGeom>
          <a:solidFill>
            <a:srgbClr val="5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20" y="4572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66470"/>
                </a:solidFill>
                <a:latin typeface="Malgun Gothic"/>
              </a:rPr>
              <a:t>9명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486400"/>
            <a:ext cx="102412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486400"/>
            <a:ext cx="64008" cy="594360"/>
          </a:xfrm>
          <a:prstGeom prst="rect">
            <a:avLst/>
          </a:prstGeom>
          <a:solidFill>
            <a:srgbClr val="D7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5669280"/>
            <a:ext cx="9875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algun Gothic"/>
              </a:rPr>
              <a:t>분석 포인트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6108192"/>
            <a:ext cx="9875519" cy="-15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6470"/>
                </a:solidFill>
                <a:latin typeface="Malgun Gothic"/>
              </a:rPr>
              <a:t>정확성 검증과 프롬프트 작성 역량이 핵심 과제로 나타나므로, 사용법 교육뿐 아니라 검토 기준과 보안 가이드가 함께 필요합니다.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66470"/>
                </a:solidFill>
                <a:latin typeface="Malgun Gothic"/>
              </a:rPr>
              <a:t>PORTFOLIO · 생성형 AI 기반 업무 생산성 혁신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66470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9691"/>
                </a:solidFill>
                <a:latin typeface="Malgun Gothic"/>
              </a:rPr>
              <a:t>06 ·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Malgun Gothic"/>
              </a:rPr>
              <a:t>업무 생산성 향상을 위한 3가지 개선안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594360" cy="45720"/>
          </a:xfrm>
          <a:prstGeom prst="rect">
            <a:avLst/>
          </a:prstGeom>
          <a:solidFill>
            <a:srgbClr val="5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4008" cy="3520440"/>
          </a:xfrm>
          <a:prstGeom prst="rect">
            <a:avLst/>
          </a:prstGeom>
          <a:solidFill>
            <a:srgbClr val="5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algun Gothic"/>
              </a:rPr>
              <a:t>01. 업무별 AI 표준 프롬프트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67712"/>
            <a:ext cx="3063240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6470"/>
                </a:solidFill>
                <a:latin typeface="Malgun Gothic"/>
              </a:rPr>
              <a:t>반복적으로 사용하는 이메일, 보고서, 회의록, 데이터 요약 등에 공통 프롬프트 템플릿을 구축합니다.</a:t>
            </a:r>
            <a:br/>
            <a:br/>
            <a:r>
              <a:t>→ 작성시간 단축</a:t>
            </a:r>
            <a:br/>
            <a:r>
              <a:t>→ 결과물 품질 표준화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64008" cy="3520440"/>
          </a:xfrm>
          <a:prstGeom prst="rect">
            <a:avLst/>
          </a:prstGeom>
          <a:solidFill>
            <a:srgbClr val="2E5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algun Gothic"/>
              </a:rPr>
              <a:t>02. 검증·보안 체크리스트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67712"/>
            <a:ext cx="3063240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6470"/>
                </a:solidFill>
                <a:latin typeface="Malgun Gothic"/>
              </a:rPr>
              <a:t>AI 결과의 사실 확인, 개인정보 입력 금지, 사내 기밀정보 관리 등 최소 검토 기준을 마련합니다.</a:t>
            </a:r>
            <a:br/>
            <a:br/>
            <a:r>
              <a:t>→ 오류·보안 리스크 감소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3520440"/>
          </a:xfrm>
          <a:prstGeom prst="rect">
            <a:avLst/>
          </a:prstGeom>
          <a:solidFill>
            <a:srgbClr val="D7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28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algun Gothic"/>
              </a:rPr>
              <a:t>03. 실무 중심 AI 교육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67712"/>
            <a:ext cx="3063240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6470"/>
                </a:solidFill>
                <a:latin typeface="Malgun Gothic"/>
              </a:rPr>
              <a:t>직무별 실제 업무를 예제로 사용하여 ‘질문 작성 → 결과 검토 → 수정’ 과정을 교육합니다.</a:t>
            </a:r>
            <a:br/>
            <a:br/>
            <a:r>
              <a:t>→ 활용 격차 감소</a:t>
            </a:r>
            <a:br/>
            <a:r>
              <a:t>→ 현업 적용률 향상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66470"/>
                </a:solidFill>
                <a:latin typeface="Malgun Gothic"/>
              </a:rPr>
              <a:t>PORTFOLIO · 생성형 AI 기반 업무 생산성 혁신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66470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9691"/>
                </a:solidFill>
                <a:latin typeface="Malgun Gothic"/>
              </a:rPr>
              <a:t>07 ·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Malgun Gothic"/>
              </a:rPr>
              <a:t>4주 실행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594360" cy="45720"/>
          </a:xfrm>
          <a:prstGeom prst="rect">
            <a:avLst/>
          </a:prstGeom>
          <a:solidFill>
            <a:srgbClr val="5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3774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9691"/>
                </a:solidFill>
                <a:latin typeface="Malgun Gothic"/>
              </a:rPr>
              <a:t>1주차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7324D"/>
                </a:solidFill>
                <a:latin typeface="Malgun Gothic"/>
              </a:rPr>
              <a:t>업무 선정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375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66470"/>
                </a:solidFill>
                <a:latin typeface="Malgun Gothic"/>
              </a:rPr>
              <a:t>반복·시간소요 업무 5개 선정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3774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9691"/>
                </a:solidFill>
                <a:latin typeface="Malgun Gothic"/>
              </a:rPr>
              <a:t>2주차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060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7324D"/>
                </a:solidFill>
                <a:latin typeface="Malgun Gothic"/>
              </a:rPr>
              <a:t>템플릿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3375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66470"/>
                </a:solidFill>
                <a:latin typeface="Malgun Gothic"/>
              </a:rPr>
              <a:t>업무별 프롬프트·검증 기준 작성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828800"/>
            <a:ext cx="23774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9691"/>
                </a:solidFill>
                <a:latin typeface="Malgun Gothic"/>
              </a:rPr>
              <a:t>3주차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060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7324D"/>
                </a:solidFill>
                <a:latin typeface="Malgun Gothic"/>
              </a:rPr>
              <a:t>시범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3375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66470"/>
                </a:solidFill>
                <a:latin typeface="Malgun Gothic"/>
              </a:rPr>
              <a:t>소규모 사용자 테스트 및 피드백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828800"/>
            <a:ext cx="237744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89691"/>
                </a:solidFill>
                <a:latin typeface="Malgun Gothic"/>
              </a:rPr>
              <a:t>4주차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6060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7324D"/>
                </a:solidFill>
                <a:latin typeface="Malgun Gothic"/>
              </a:rPr>
              <a:t>성과 점검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3375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66470"/>
                </a:solidFill>
                <a:latin typeface="Malgun Gothic"/>
              </a:rPr>
              <a:t>시간 절감·만족도 측정 후 개선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7324D"/>
                </a:solidFill>
                <a:latin typeface="Malgun Gothic"/>
              </a:rPr>
              <a:t>성과 측정 예시  |  보고서 작성시간 · AI 활용률 · 사용자 만족도 · 수정 횟수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66470"/>
                </a:solidFill>
                <a:latin typeface="Malgun Gothic"/>
              </a:rPr>
              <a:t>PORTFOLIO · 생성형 AI 기반 업무 생산성 혁신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66470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89691"/>
                </a:solidFill>
                <a:latin typeface="Malgun Gothic"/>
              </a:rPr>
              <a:t>08 · PORTFOLIO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Malgun Gothic"/>
              </a:rPr>
              <a:t>이 프로젝트에서 보여주는 역량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07592"/>
            <a:ext cx="594360" cy="45720"/>
          </a:xfrm>
          <a:prstGeom prst="rect">
            <a:avLst/>
          </a:prstGeom>
          <a:solidFill>
            <a:srgbClr val="5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" cy="3337560"/>
          </a:xfrm>
          <a:prstGeom prst="rect">
            <a:avLst/>
          </a:prstGeom>
          <a:solidFill>
            <a:srgbClr val="5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830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algun Gothic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21992"/>
            <a:ext cx="3063240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6470"/>
                </a:solidFill>
                <a:latin typeface="Malgun Gothic"/>
              </a:rPr>
              <a:t>설문 데이터를 업무 목적에 맞게 정리하고 핵심 지표와 패턴을 도출</a:t>
            </a:r>
            <a:br/>
            <a:br/>
            <a:r>
              <a:t>데이터 정리 · 분석 · 시각화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64008" cy="3337560"/>
          </a:xfrm>
          <a:prstGeom prst="rect">
            <a:avLst/>
          </a:prstGeom>
          <a:solidFill>
            <a:srgbClr val="2E5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7830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algun Gothic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21992"/>
            <a:ext cx="3063240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6470"/>
                </a:solidFill>
                <a:latin typeface="Malgun Gothic"/>
              </a:rPr>
              <a:t>생성형 AI를 단순 문서작성 도구가 아닌 업무 분석·구조화 도구로 활용</a:t>
            </a:r>
            <a:br/>
            <a:br/>
            <a:r>
              <a:t>프롬프트 · 검토 · 개선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CE1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3337560"/>
          </a:xfrm>
          <a:prstGeom prst="rect">
            <a:avLst/>
          </a:prstGeom>
          <a:solidFill>
            <a:srgbClr val="D78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830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324D"/>
                </a:solidFill>
                <a:latin typeface="Malgun Gothic"/>
              </a:rPr>
              <a:t>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21992"/>
            <a:ext cx="3063240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66470"/>
                </a:solidFill>
                <a:latin typeface="Malgun Gothic"/>
              </a:rPr>
              <a:t>경영진이 빠르게 판단할 수 있도록 핵심 메시지와 실행계획 중심으로 보고</a:t>
            </a:r>
            <a:br/>
            <a:br/>
            <a:r>
              <a:t>보고서 · PPT · 커뮤니케이션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49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7324D"/>
                </a:solidFill>
                <a:latin typeface="Malgun Gothic"/>
              </a:rPr>
              <a:t>포트폴리오 한 줄 설명  |  “데이터를 분석하고 AI로 핵심을 구조화하여 실행 가능한 경영지원 보고자료로 완성했습니다.”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66470"/>
                </a:solidFill>
                <a:latin typeface="Malgun Gothic"/>
              </a:rPr>
              <a:t>PORTFOLIO · 생성형 AI 기반 업무 생산성 혁신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1908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66470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